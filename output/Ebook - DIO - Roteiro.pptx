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3" r:id="rId5"/>
    <p:sldId id="265" r:id="rId6"/>
    <p:sldId id="266" r:id="rId7"/>
    <p:sldId id="267" r:id="rId8"/>
    <p:sldId id="268" r:id="rId9"/>
    <p:sldId id="269" r:id="rId10"/>
    <p:sldId id="270" r:id="rId11"/>
  </p:sldIdLst>
  <p:sldSz cx="5330825" cy="7562850"/>
  <p:notesSz cx="7562850" cy="5330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2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ulio Phelipe Andrade de Souza" userId="ed0b28e2-f93f-446c-803a-cdc7eaeb3e0e" providerId="ADAL" clId="{204B59FA-F4DE-4319-B60E-CDEAE6AAE1D5}"/>
    <pc:docChg chg="custSel addSld delSld modSld">
      <pc:chgData name="Thulio Phelipe Andrade de Souza" userId="ed0b28e2-f93f-446c-803a-cdc7eaeb3e0e" providerId="ADAL" clId="{204B59FA-F4DE-4319-B60E-CDEAE6AAE1D5}" dt="2026-05-21T18:37:25.025" v="29" actId="1076"/>
      <pc:docMkLst>
        <pc:docMk/>
      </pc:docMkLst>
      <pc:sldChg chg="modSp mod modNotes">
        <pc:chgData name="Thulio Phelipe Andrade de Souza" userId="ed0b28e2-f93f-446c-803a-cdc7eaeb3e0e" providerId="ADAL" clId="{204B59FA-F4DE-4319-B60E-CDEAE6AAE1D5}" dt="2026-05-21T18:34:03.838" v="1" actId="26606"/>
        <pc:sldMkLst>
          <pc:docMk/>
          <pc:sldMk cId="0" sldId="256"/>
        </pc:sldMkLst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6"/>
            <ac:spMk id="3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6"/>
            <ac:spMk id="5" creationId="{00000000-0000-0000-0000-000000000000}"/>
          </ac:spMkLst>
        </pc:spChg>
      </pc:sldChg>
      <pc:sldChg chg="modSp mod modNotes">
        <pc:chgData name="Thulio Phelipe Andrade de Souza" userId="ed0b28e2-f93f-446c-803a-cdc7eaeb3e0e" providerId="ADAL" clId="{204B59FA-F4DE-4319-B60E-CDEAE6AAE1D5}" dt="2026-05-21T18:34:03.838" v="1" actId="26606"/>
        <pc:sldMkLst>
          <pc:docMk/>
          <pc:sldMk cId="0" sldId="258"/>
        </pc:sldMkLst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8"/>
            <ac:spMk id="4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8"/>
            <ac:spMk id="5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8"/>
            <ac:spMk id="6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8"/>
            <ac:spMk id="9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8"/>
            <ac:spMk id="16" creationId="{00000000-0000-0000-0000-000000000000}"/>
          </ac:spMkLst>
        </pc:spChg>
      </pc:sldChg>
      <pc:sldChg chg="modSp mod modNotes">
        <pc:chgData name="Thulio Phelipe Andrade de Souza" userId="ed0b28e2-f93f-446c-803a-cdc7eaeb3e0e" providerId="ADAL" clId="{204B59FA-F4DE-4319-B60E-CDEAE6AAE1D5}" dt="2026-05-21T18:34:03.838" v="1" actId="26606"/>
        <pc:sldMkLst>
          <pc:docMk/>
          <pc:sldMk cId="0" sldId="259"/>
        </pc:sldMkLst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9"/>
            <ac:spMk id="4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9"/>
            <ac:spMk id="8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59"/>
            <ac:spMk id="20" creationId="{00000000-0000-0000-0000-000000000000}"/>
          </ac:spMkLst>
        </pc:spChg>
      </pc:sldChg>
      <pc:sldChg chg="del">
        <pc:chgData name="Thulio Phelipe Andrade de Souza" userId="ed0b28e2-f93f-446c-803a-cdc7eaeb3e0e" providerId="ADAL" clId="{204B59FA-F4DE-4319-B60E-CDEAE6AAE1D5}" dt="2026-05-21T18:28:42.481" v="0" actId="26606"/>
        <pc:sldMkLst>
          <pc:docMk/>
          <pc:sldMk cId="0" sldId="260"/>
        </pc:sldMkLst>
      </pc:sldChg>
      <pc:sldChg chg="del">
        <pc:chgData name="Thulio Phelipe Andrade de Souza" userId="ed0b28e2-f93f-446c-803a-cdc7eaeb3e0e" providerId="ADAL" clId="{204B59FA-F4DE-4319-B60E-CDEAE6AAE1D5}" dt="2026-05-21T18:28:42.481" v="0" actId="26606"/>
        <pc:sldMkLst>
          <pc:docMk/>
          <pc:sldMk cId="0" sldId="261"/>
        </pc:sldMkLst>
      </pc:sldChg>
      <pc:sldChg chg="del">
        <pc:chgData name="Thulio Phelipe Andrade de Souza" userId="ed0b28e2-f93f-446c-803a-cdc7eaeb3e0e" providerId="ADAL" clId="{204B59FA-F4DE-4319-B60E-CDEAE6AAE1D5}" dt="2026-05-21T18:28:42.481" v="0" actId="26606"/>
        <pc:sldMkLst>
          <pc:docMk/>
          <pc:sldMk cId="0" sldId="262"/>
        </pc:sldMkLst>
      </pc:sldChg>
      <pc:sldChg chg="modSp mod modNotes">
        <pc:chgData name="Thulio Phelipe Andrade de Souza" userId="ed0b28e2-f93f-446c-803a-cdc7eaeb3e0e" providerId="ADAL" clId="{204B59FA-F4DE-4319-B60E-CDEAE6AAE1D5}" dt="2026-05-21T18:34:03.838" v="1" actId="26606"/>
        <pc:sldMkLst>
          <pc:docMk/>
          <pc:sldMk cId="0" sldId="263"/>
        </pc:sldMkLst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3"/>
            <ac:spMk id="5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3"/>
            <ac:spMk id="7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3"/>
            <ac:spMk id="28" creationId="{00000000-0000-0000-0000-000000000000}"/>
          </ac:spMkLst>
        </pc:spChg>
      </pc:sldChg>
      <pc:sldChg chg="del">
        <pc:chgData name="Thulio Phelipe Andrade de Souza" userId="ed0b28e2-f93f-446c-803a-cdc7eaeb3e0e" providerId="ADAL" clId="{204B59FA-F4DE-4319-B60E-CDEAE6AAE1D5}" dt="2026-05-21T18:28:42.481" v="0" actId="26606"/>
        <pc:sldMkLst>
          <pc:docMk/>
          <pc:sldMk cId="0" sldId="264"/>
        </pc:sldMkLst>
      </pc:sldChg>
      <pc:sldChg chg="modSp mod modNotes">
        <pc:chgData name="Thulio Phelipe Andrade de Souza" userId="ed0b28e2-f93f-446c-803a-cdc7eaeb3e0e" providerId="ADAL" clId="{204B59FA-F4DE-4319-B60E-CDEAE6AAE1D5}" dt="2026-05-21T18:34:03.838" v="1" actId="26606"/>
        <pc:sldMkLst>
          <pc:docMk/>
          <pc:sldMk cId="0" sldId="265"/>
        </pc:sldMkLst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5"/>
            <ac:spMk id="3" creationId="{00000000-0000-0000-0000-000000000000}"/>
          </ac:spMkLst>
        </pc:spChg>
        <pc:spChg chg="mod">
          <ac:chgData name="Thulio Phelipe Andrade de Souza" userId="ed0b28e2-f93f-446c-803a-cdc7eaeb3e0e" providerId="ADAL" clId="{204B59FA-F4DE-4319-B60E-CDEAE6AAE1D5}" dt="2026-05-21T18:28:42.481" v="0" actId="26606"/>
          <ac:spMkLst>
            <pc:docMk/>
            <pc:sldMk cId="0" sldId="265"/>
            <ac:spMk id="5" creationId="{00000000-0000-0000-0000-000000000000}"/>
          </ac:spMkLst>
        </pc:spChg>
      </pc:sldChg>
      <pc:sldChg chg="del">
        <pc:chgData name="Thulio Phelipe Andrade de Souza" userId="ed0b28e2-f93f-446c-803a-cdc7eaeb3e0e" providerId="ADAL" clId="{204B59FA-F4DE-4319-B60E-CDEAE6AAE1D5}" dt="2026-05-21T18:28:42.481" v="0" actId="26606"/>
        <pc:sldMkLst>
          <pc:docMk/>
          <pc:sldMk cId="0" sldId="266"/>
        </pc:sldMkLst>
      </pc:sldChg>
      <pc:sldChg chg="addSp modSp new mod">
        <pc:chgData name="Thulio Phelipe Andrade de Souza" userId="ed0b28e2-f93f-446c-803a-cdc7eaeb3e0e" providerId="ADAL" clId="{204B59FA-F4DE-4319-B60E-CDEAE6AAE1D5}" dt="2026-05-21T18:35:13.734" v="5" actId="14100"/>
        <pc:sldMkLst>
          <pc:docMk/>
          <pc:sldMk cId="1584248746" sldId="266"/>
        </pc:sldMkLst>
        <pc:spChg chg="add mod">
          <ac:chgData name="Thulio Phelipe Andrade de Souza" userId="ed0b28e2-f93f-446c-803a-cdc7eaeb3e0e" providerId="ADAL" clId="{204B59FA-F4DE-4319-B60E-CDEAE6AAE1D5}" dt="2026-05-21T18:35:13.734" v="5" actId="14100"/>
          <ac:spMkLst>
            <pc:docMk/>
            <pc:sldMk cId="1584248746" sldId="266"/>
            <ac:spMk id="3" creationId="{4E8E455E-1160-0B0F-F5BE-493E4EB4CE01}"/>
          </ac:spMkLst>
        </pc:spChg>
      </pc:sldChg>
      <pc:sldChg chg="addSp modSp new mod">
        <pc:chgData name="Thulio Phelipe Andrade de Souza" userId="ed0b28e2-f93f-446c-803a-cdc7eaeb3e0e" providerId="ADAL" clId="{204B59FA-F4DE-4319-B60E-CDEAE6AAE1D5}" dt="2026-05-21T18:35:34.393" v="9" actId="14100"/>
        <pc:sldMkLst>
          <pc:docMk/>
          <pc:sldMk cId="3188245156" sldId="267"/>
        </pc:sldMkLst>
        <pc:spChg chg="add mod">
          <ac:chgData name="Thulio Phelipe Andrade de Souza" userId="ed0b28e2-f93f-446c-803a-cdc7eaeb3e0e" providerId="ADAL" clId="{204B59FA-F4DE-4319-B60E-CDEAE6AAE1D5}" dt="2026-05-21T18:35:34.393" v="9" actId="14100"/>
          <ac:spMkLst>
            <pc:docMk/>
            <pc:sldMk cId="3188245156" sldId="267"/>
            <ac:spMk id="3" creationId="{FEA63B6B-2F12-004F-5D05-BDCAD0760647}"/>
          </ac:spMkLst>
        </pc:spChg>
      </pc:sldChg>
      <pc:sldChg chg="addSp modSp new mod">
        <pc:chgData name="Thulio Phelipe Andrade de Souza" userId="ed0b28e2-f93f-446c-803a-cdc7eaeb3e0e" providerId="ADAL" clId="{204B59FA-F4DE-4319-B60E-CDEAE6AAE1D5}" dt="2026-05-21T18:36:16.776" v="17" actId="1076"/>
        <pc:sldMkLst>
          <pc:docMk/>
          <pc:sldMk cId="772522790" sldId="268"/>
        </pc:sldMkLst>
        <pc:spChg chg="add mod">
          <ac:chgData name="Thulio Phelipe Andrade de Souza" userId="ed0b28e2-f93f-446c-803a-cdc7eaeb3e0e" providerId="ADAL" clId="{204B59FA-F4DE-4319-B60E-CDEAE6AAE1D5}" dt="2026-05-21T18:36:16.776" v="17" actId="1076"/>
          <ac:spMkLst>
            <pc:docMk/>
            <pc:sldMk cId="772522790" sldId="268"/>
            <ac:spMk id="3" creationId="{1316DB11-DCD6-61B4-EE04-E5A9CE3F221C}"/>
          </ac:spMkLst>
        </pc:spChg>
      </pc:sldChg>
      <pc:sldChg chg="addSp modSp new mod">
        <pc:chgData name="Thulio Phelipe Andrade de Souza" userId="ed0b28e2-f93f-446c-803a-cdc7eaeb3e0e" providerId="ADAL" clId="{204B59FA-F4DE-4319-B60E-CDEAE6AAE1D5}" dt="2026-05-21T18:37:01.758" v="24" actId="1076"/>
        <pc:sldMkLst>
          <pc:docMk/>
          <pc:sldMk cId="2671376861" sldId="269"/>
        </pc:sldMkLst>
        <pc:spChg chg="add mod">
          <ac:chgData name="Thulio Phelipe Andrade de Souza" userId="ed0b28e2-f93f-446c-803a-cdc7eaeb3e0e" providerId="ADAL" clId="{204B59FA-F4DE-4319-B60E-CDEAE6AAE1D5}" dt="2026-05-21T18:37:01.758" v="24" actId="1076"/>
          <ac:spMkLst>
            <pc:docMk/>
            <pc:sldMk cId="2671376861" sldId="269"/>
            <ac:spMk id="3" creationId="{9E714B47-F47B-97B6-1BD6-C13775211DDC}"/>
          </ac:spMkLst>
        </pc:spChg>
      </pc:sldChg>
      <pc:sldChg chg="addSp modSp new mod">
        <pc:chgData name="Thulio Phelipe Andrade de Souza" userId="ed0b28e2-f93f-446c-803a-cdc7eaeb3e0e" providerId="ADAL" clId="{204B59FA-F4DE-4319-B60E-CDEAE6AAE1D5}" dt="2026-05-21T18:37:25.025" v="29" actId="1076"/>
        <pc:sldMkLst>
          <pc:docMk/>
          <pc:sldMk cId="4107831298" sldId="270"/>
        </pc:sldMkLst>
        <pc:spChg chg="add mod">
          <ac:chgData name="Thulio Phelipe Andrade de Souza" userId="ed0b28e2-f93f-446c-803a-cdc7eaeb3e0e" providerId="ADAL" clId="{204B59FA-F4DE-4319-B60E-CDEAE6AAE1D5}" dt="2026-05-21T18:37:25.025" v="29" actId="1076"/>
          <ac:spMkLst>
            <pc:docMk/>
            <pc:sldMk cId="4107831298" sldId="270"/>
            <ac:spMk id="3" creationId="{797F47D4-3652-9010-7D8B-1B6C872B4C9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43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 ai, galera! Sejam muito bem-vindos a mais um episodio do Cobolando, o podcast que desenterra os segredos da linguagem mais raiz da programacao!</a:t>
            </a:r>
          </a:p>
          <a:p>
            <a:r>
              <a:rPr lang="pt-BR" dirty="0"/>
              <a:t>Eu sou o seu host e hoje a gente vai falar de uma linguagem que, olha... ela e mais velha que a ida do homem a Lua, mais velha que a internet, mais velha que praticamente tudo que voce usa no celular. E mesmo assim, ela ta la, firme e forte, processando trilhoes de transacoes todo santo dia.</a:t>
            </a:r>
          </a:p>
          <a:p>
            <a:r>
              <a:rPr lang="pt-BR" dirty="0"/>
              <a:t>Estamos falando de COBOL. E se voce nunca ouviu falar, ou acha que e coisa de museu, fica comigo que eu vou te mostrar por que essa linguagem e, talvez, a mais importante do mundo. Bora la!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Imagina so: voce ta la, de boa, sacando dinheiro no caixa eletronico, fazendo um Pix pro seu amigo, pagando o boleto da internet. E adivinha quem ta por tras de tudo isso? Uma linguagem de mil novecentos e cinquenta e nove! Isso mesmo, galera. Mais velha que a internet, que o celular, que o proprio Windows.</a:t>
            </a:r>
          </a:p>
          <a:p>
            <a:r>
              <a:rPr lang="pt-BR" dirty="0"/>
              <a:t>COBOL. Common Business-Oriented Language. Traduzindo: linguagem orientada a negocios. E ela processa noventa e cinco por cento das transacoes financeiras do planeta. Noventa e cinco por cento! Se o COBOL tirasse ferias, o sistema bancario mundial inteiro ia entrar em colapso. Caixa eletronico? Parado. Pix? Esquece. Cartao de credito? Nao passa.</a:t>
            </a:r>
          </a:p>
          <a:p>
            <a:r>
              <a:rPr lang="pt-BR" dirty="0"/>
              <a:t>E pra voce ter uma ideia dos numeros: tres trilhoes de transacoes por dia. Tres trilhoes! E duzentos e vinte bilhoes de linhas de codigo COBOL ativas no mundo. Isso e mais codigo do que todas as linhas de Python e Java juntas. Absurdo, ne?</a:t>
            </a:r>
          </a:p>
          <a:p>
            <a:r>
              <a:rPr lang="pt-BR" dirty="0"/>
              <a:t>E o mais legal: o Hello World em COBOL ja te mostra o estilo da linguagem. Olha so: voce comeca com IDENTIFICATION DIVISION ponto, depois PROGRAM-ID ponto HELLO-WORLD ponto. Ai na PROCEDURE DIVISION voce manda um DISPLAY aspas Hello, World! aspas ponto. E fecha com STOP RUN ponto. Parece que voce ta escrevendo um documento em ingles, nao um codigo. E era exatamente essa a ideia!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Agora que voce ja sabe o que COBOL faz, bora entender como um programa COBOL funciona por dentro. E a melhor analogia que eu tenho pra voce e: pensa numa piramide com quatro camaras secretas. Cada camara tem uma funcao especifica.</a:t>
            </a:r>
          </a:p>
          <a:p>
            <a:r>
              <a:rPr lang="pt-BR" dirty="0"/>
              <a:t>A primeira camara e a Identification Division. Essa e tipo o RG do programa. E aqui que voce diz: opa, meu nome e tal, fui criado por fulano, na data tal. Basicamente a carteira de identidade do seu codigo.</a:t>
            </a:r>
          </a:p>
          <a:p>
            <a:r>
              <a:rPr lang="pt-BR" dirty="0"/>
              <a:t>A segunda e a Environment Division. Essa e o mapa do terreno. Aqui voce configura em que ambiente o programa vai rodar, quais arquivos ele vai usar, qual hardware ta envolvido. E tipo falar: olha, eu vou trabalhar com esse arquivo aqui, que ta nessa pasta aqui.</a:t>
            </a:r>
          </a:p>
          <a:p>
            <a:r>
              <a:rPr lang="pt-BR" dirty="0"/>
              <a:t>A terceira e a Data Division. Esse e o deposito de artefatos. E onde voce declara todas as suas variaveis e estruturas de dados. Tipo: eu tenho um campo chamado nome do funcionario que guarda trinta caracteres, e outro chamado salario que guarda sete digitos com duas casas decimais.</a:t>
            </a:r>
          </a:p>
          <a:p>
            <a:r>
              <a:rPr lang="pt-BR" dirty="0"/>
              <a:t>E a quarta, e a mais importante, e a Procedure Division. Essa e o coracao da parada! E aqui que a magica acontece, onde fica toda a logica do programa. Os calculos, as decisoes, os loops, tudo. E o legal e que COBOL organiza a logica em paragrafos, que funcionam quase como funcoes. Voce chama um paragrafo com PERFORM e ele executa. Simples assim.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Agora vem a parte que eu mais gosto: hora das curiosidades! Prepara que vem bomba.</a:t>
            </a:r>
          </a:p>
          <a:p>
            <a:r>
              <a:rPr lang="pt-BR" dirty="0"/>
              <a:t>Primeira: COBOL e de 1959. Pra voce ter uma ideia, o homem so foi a Lua em 1969. Ou seja, COBOL e mais velha que a ida a Lua! Quando Neil Armstrong deu aquele pequeno passo pra humanidade, COBOL ja tava rodando fazia dez anos. Acredita nisso?</a:t>
            </a:r>
          </a:p>
          <a:p>
            <a:r>
              <a:rPr lang="pt-BR" dirty="0"/>
              <a:t>Segunda: sabe quem liderou a criacao do COBOL? Uma mulher incrivel chamada Grace Hopper. Almirante da Marinha americana, matematica, e uma das pioneiras da computacao. Foi ela que popularizou a ideia de que linguagens de programacao podiam parecer com ingles, em vez de ser so numeros e simbolos. Lenda demais!</a:t>
            </a:r>
          </a:p>
          <a:p>
            <a:r>
              <a:rPr lang="pt-BR" dirty="0"/>
              <a:t>Terceira: existem duzentos e vinte bilhoes de linhas de COBOL ativas no mundo. Pra comparar, isso e mais do que todas as linhas de Python e Java somadas. E uma quantidade absurda de codigo que ta la, funcionando, todo dia, nos bastidores do sistema financeiro.</a:t>
            </a:r>
          </a:p>
          <a:p>
            <a:r>
              <a:rPr lang="pt-BR" dirty="0"/>
              <a:t>Quarta: COBOL foi projetado pra parecer ingles. Tipo, voce le o codigo e quase da pra entender sem saber programar. MOVE nome TO campo. DISPLAY resultado. IF salario GREATER THAN mil. E quase uma redacao!</a:t>
            </a:r>
          </a:p>
          <a:p>
            <a:r>
              <a:rPr lang="pt-BR" dirty="0"/>
              <a:t>Quinta: COBOL processa tres trilhoes de transacoes por dia. Tres trilhoes! Os bancos literalmente nao vivem sem essa linguagem. Cada vez que voce passa o cartao, tem COBOL por tras.</a:t>
            </a:r>
          </a:p>
          <a:p>
            <a:r>
              <a:rPr lang="pt-BR" dirty="0"/>
              <a:t>E a sexta, que talvez seja a mais interessante pra voce que ta ouvindo: pouquissimos desenvolvedores sabem COBOL hoje. A maioria dos programadores COBOL ta se aposentando, e as empresas tao desesperadas atras de gente nova que aprenda. Resultado? Salarios altissimos e muita oportunidade no mercado. Fica a dica!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 ai, galera, esse foi o Cobolando de hoje! Espero que voce tenha curtido essa viagem no tempo e entendido por que COBOL nao e uma reliquia do passado. Muito pelo contrario: e o alicerce sobre o qual o mundo financeiro foi construido, e continua de pe, firme e forte.</a:t>
            </a:r>
          </a:p>
          <a:p>
            <a:r>
              <a:rPr lang="pt-BR" dirty="0"/>
              <a:t>Se voce curtiu esse episodio, deixa o like, compartilha com aquele amigo programador que acha que COBOL morreu, e se inscreve no canal pra nao perder os proximos episodios. A escavacao continua!</a:t>
            </a:r>
          </a:p>
          <a:p>
            <a:r>
              <a:rPr lang="pt-BR" dirty="0"/>
              <a:t>No proximo episodio a gente vai se aprofundar ainda mais, entao fica ligado. Eu sou o seu host, e esse foi o Cobolando. Valeu, galera! Ate a proxima!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5330952" cy="3447288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4389120"/>
            <a:ext cx="4599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400" b="1" kern="0" spc="20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COBOLANDO</a:t>
            </a:r>
            <a:endParaRPr lang="en-US" sz="3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400" b="1" kern="0" spc="20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Podcast</a:t>
            </a:r>
            <a:endParaRPr lang="en-US" sz="3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400" b="1" kern="0" spc="20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ABERTURA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933956" y="6263640"/>
            <a:ext cx="1463040" cy="27432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6400800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[NARRADOR] E ai, galera! Sejam muito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bem-vindos ao Cobolando!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0952" cy="868680"/>
          </a:xfrm>
          <a:prstGeom prst="rect">
            <a:avLst/>
          </a:prstGeom>
          <a:solidFill>
            <a:srgbClr val="3B241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4142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Narrador: </a:t>
            </a:r>
            <a:r>
              <a:rPr lang="en-US" sz="24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 COBOL?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Roteiro do Narrador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1508760"/>
            <a:ext cx="4599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so: voce ta la, sacando dinheiro no caixa eletronico, fazendo um Pix, pagando o boleto... e adivinha quem ta por tras disso tudo? Uma linguagem de 1959! Isso mesmo, mais velha que a internet, que o celular, que o proprio Windows. COBOL, a </a:t>
            </a: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Business-Oriented Language</a:t>
            </a:r>
            <a:r>
              <a:rPr lang="en-US" sz="120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processa 95% das transacoes financeiras</a:t>
            </a: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20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</a:t>
            </a: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se COBOL tirasse ferias, o sistema bancario mundial ia entrar em colapso!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2834640"/>
            <a:ext cx="4599432" cy="548640"/>
          </a:xfrm>
          <a:prstGeom prst="rect">
            <a:avLst/>
          </a:prstGeom>
          <a:solidFill>
            <a:srgbClr val="3B24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0292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1959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743200" y="28346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de criacao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3474720"/>
            <a:ext cx="4599432" cy="548640"/>
          </a:xfrm>
          <a:prstGeom prst="rect">
            <a:avLst/>
          </a:prstGeom>
          <a:solidFill>
            <a:srgbClr val="3B24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0292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trilhoes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743200" y="347472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Transacoes/dia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4114800"/>
            <a:ext cx="4599432" cy="548640"/>
          </a:xfrm>
          <a:prstGeom prst="rect">
            <a:avLst/>
          </a:prstGeom>
          <a:solidFill>
            <a:srgbClr val="3B24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0292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 bilhoes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743200" y="411480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ativas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84632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Hora do codigo!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5212080"/>
            <a:ext cx="4599432" cy="1828800"/>
          </a:xfrm>
          <a:prstGeom prst="rect">
            <a:avLst/>
          </a:prstGeom>
          <a:solidFill>
            <a:srgbClr val="2C18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02920" y="5303520"/>
            <a:ext cx="4325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IDENTIFICATION DIVISION.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PROGRAM-ID. HELLO-WORLD.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DIVISION.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 "Hello, World!".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7D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STOP RUN.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2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"/>
            <a:ext cx="4142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Narrador: </a:t>
            </a:r>
            <a:r>
              <a:rPr lang="en-US" sz="22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COBOL</a:t>
            </a:r>
            <a:endParaRPr lang="en-US" sz="2200"/>
          </a:p>
          <a:p>
            <a:pPr marL="0" indent="0">
              <a:lnSpc>
                <a:spcPct val="100000"/>
              </a:lnSpc>
              <a:buNone/>
            </a:pPr>
            <a:r>
              <a:rPr lang="en-US" sz="2200" b="1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Dentro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960120"/>
            <a:ext cx="4599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 num programa COBOL </a:t>
            </a:r>
            <a:r>
              <a:rPr lang="en-US" sz="10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piramide</a:t>
            </a:r>
            <a:r>
              <a:rPr lang="en-US" sz="10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4 camaras secretas!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65760" y="1463040"/>
            <a:ext cx="4599432" cy="1280160"/>
          </a:xfrm>
          <a:prstGeom prst="rect">
            <a:avLst/>
          </a:prstGeom>
          <a:solidFill>
            <a:srgbClr val="8B5E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IDENTIFICATION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0" y="164592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RG do </a:t>
            </a: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11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autor,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852928"/>
            <a:ext cx="4599432" cy="1280160"/>
          </a:xfrm>
          <a:prstGeom prst="rect">
            <a:avLst/>
          </a:prstGeom>
          <a:solidFill>
            <a:srgbClr val="7A52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02920" y="29900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02920" y="34930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0" y="3035808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do terreno!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 </a:t>
            </a: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4242816"/>
            <a:ext cx="4599432" cy="1280160"/>
          </a:xfrm>
          <a:prstGeom prst="rect">
            <a:avLst/>
          </a:prstGeom>
          <a:solidFill>
            <a:srgbClr val="6B452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02920" y="437997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02920" y="48828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0" y="4425696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deposito de artefatos!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Variaveis </a:t>
            </a: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dados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5632704"/>
            <a:ext cx="4599432" cy="1280160"/>
          </a:xfrm>
          <a:prstGeom prst="rect">
            <a:avLst/>
          </a:prstGeom>
          <a:solidFill>
            <a:srgbClr val="5C3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02920" y="576986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502920" y="62727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0" y="5815584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coracao da parada!</a:t>
            </a:r>
            <a:endParaRPr lang="en-US" sz="1100"/>
          </a:p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</a:t>
            </a:r>
            <a:r>
              <a:rPr lang="en-US" sz="11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programa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2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Curiosidade: Voce Sabia?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475488" y="105156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Mais velha que tudo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COBOL e de 1959 — mais velha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0" y="13716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 ida </a:t>
            </a:r>
            <a:r>
              <a:rPr lang="en-US" sz="900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9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Lua!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1993392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75488" y="203911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Grace Hopper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 mulher incrivel liderou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0" y="23591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criacao do COBOL!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2980944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75488" y="3026664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 bilhoes de linhas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5488" y="3346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Existem 220 bilhoes de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linhas ativas no mundo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0" y="3346704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que Python e Java juntos!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3968496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75488" y="4014216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Parece ingles!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5488" y="43342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COBOL foi feito pra parecer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0" y="4334256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ingles, nao codigo!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" y="4956048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75488" y="5001768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trilhoes por dia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" y="5321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COBOL processa 3 trilhoes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transacoes por dia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43200" y="53218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nao vivem sem ela!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65760" y="5943600"/>
            <a:ext cx="4599432" cy="914400"/>
          </a:xfrm>
          <a:prstGeom prst="rect">
            <a:avLst/>
          </a:prstGeom>
          <a:solidFill>
            <a:srgbClr val="4A2D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75488" y="598932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89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Falta de gente!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75488" y="6309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Poucos devs sabem COBOL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>
                <a:solidFill>
                  <a:srgbClr val="F5E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hoje — oportunidade!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743200" y="63093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Salarios altos no mercado!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" y="71323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[NARRADOR] Conta essas curiosidades com entusiasmo, tipo: "Acredita nisso?!"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0952" cy="7562088"/>
          </a:xfrm>
          <a:prstGeom prst="rect">
            <a:avLst/>
          </a:prstGeom>
          <a:solidFill>
            <a:srgbClr val="000000">
              <a:alpha val="6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2286000"/>
            <a:ext cx="4599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600" b="1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Encerramento</a:t>
            </a:r>
            <a:endParaRPr lang="en-US" sz="3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600" b="1">
                <a:solidFill>
                  <a:srgbClr val="C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Cobolando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933956" y="4023360"/>
            <a:ext cx="1463040" cy="27432"/>
          </a:xfrm>
          <a:prstGeom prst="rect">
            <a:avLst/>
          </a:prstGeom>
          <a:solidFill>
            <a:srgbClr val="C896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4050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[NARRADOR] </a:t>
            </a:r>
            <a:r>
              <a:rPr lang="en-US" sz="12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en-US" sz="12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galera! Esse foi </a:t>
            </a:r>
            <a:r>
              <a:rPr lang="en-US" sz="12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Cobolando de hoje! Se curtiu, deixa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like, compartilha </a:t>
            </a:r>
            <a:r>
              <a:rPr lang="en-US" sz="12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en-US" sz="12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inscreve!</a:t>
            </a:r>
            <a:endParaRPr lang="en-US" sz="120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escavacao </a:t>
            </a:r>
            <a:r>
              <a:rPr lang="en-US" sz="1200" i="1" dirty="0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</a:t>
            </a:r>
            <a:r>
              <a:rPr lang="en-US" sz="1200" i="1">
                <a:solidFill>
                  <a:srgbClr val="E7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proximo episodio!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E8E455E-1160-0B0F-F5BE-493E4EB4CE01}"/>
              </a:ext>
            </a:extLst>
          </p:cNvPr>
          <p:cNvSpPr txBox="1"/>
          <p:nvPr/>
        </p:nvSpPr>
        <p:spPr>
          <a:xfrm>
            <a:off x="0" y="-2447"/>
            <a:ext cx="53308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 ai, galera! Sejam muito bem-vindos a mais um episodio do </a:t>
            </a:r>
            <a:r>
              <a:rPr lang="pt-BR" dirty="0" err="1"/>
              <a:t>Cobolando</a:t>
            </a:r>
            <a:r>
              <a:rPr lang="pt-BR" dirty="0"/>
              <a:t>, o podcast que desenterra os segredos da linguagem mais raiz da </a:t>
            </a:r>
            <a:r>
              <a:rPr lang="pt-BR" dirty="0" err="1"/>
              <a:t>programacao</a:t>
            </a:r>
            <a:r>
              <a:rPr lang="pt-BR" dirty="0"/>
              <a:t>!</a:t>
            </a:r>
          </a:p>
          <a:p>
            <a:r>
              <a:rPr lang="pt-BR" dirty="0"/>
              <a:t>Eu sou o seu host e hoje a gente vai falar de uma linguagem que, olha... ela e mais velha que a ida do homem a Lua, mais velha que a internet, mais velha que praticamente tudo que </a:t>
            </a:r>
            <a:r>
              <a:rPr lang="pt-BR" dirty="0" err="1"/>
              <a:t>voce</a:t>
            </a:r>
            <a:r>
              <a:rPr lang="pt-BR" dirty="0"/>
              <a:t> usa no celular. E mesmo assim, ela </a:t>
            </a:r>
            <a:r>
              <a:rPr lang="pt-BR" dirty="0" err="1"/>
              <a:t>ta</a:t>
            </a:r>
            <a:r>
              <a:rPr lang="pt-BR" dirty="0"/>
              <a:t> </a:t>
            </a:r>
            <a:r>
              <a:rPr lang="pt-BR" dirty="0" err="1"/>
              <a:t>la</a:t>
            </a:r>
            <a:r>
              <a:rPr lang="pt-BR" dirty="0"/>
              <a:t>, firme e forte, processando </a:t>
            </a:r>
            <a:r>
              <a:rPr lang="pt-BR" dirty="0" err="1"/>
              <a:t>trilhoes</a:t>
            </a:r>
            <a:r>
              <a:rPr lang="pt-BR" dirty="0"/>
              <a:t> de </a:t>
            </a:r>
            <a:r>
              <a:rPr lang="pt-BR" dirty="0" err="1"/>
              <a:t>transacoes</a:t>
            </a:r>
            <a:r>
              <a:rPr lang="pt-BR" dirty="0"/>
              <a:t> todo santo dia.</a:t>
            </a:r>
          </a:p>
          <a:p>
            <a:r>
              <a:rPr lang="pt-BR" dirty="0"/>
              <a:t>Estamos falando de COBOL. E se </a:t>
            </a:r>
            <a:r>
              <a:rPr lang="pt-BR" dirty="0" err="1"/>
              <a:t>voce</a:t>
            </a:r>
            <a:r>
              <a:rPr lang="pt-BR" dirty="0"/>
              <a:t> nunca ouviu falar, ou acha que e coisa de museu, fica comigo que eu vou te mostrar por que essa linguagem e, talvez, a mais importante do mundo. Bora </a:t>
            </a:r>
            <a:r>
              <a:rPr lang="pt-BR" dirty="0" err="1"/>
              <a:t>la</a:t>
            </a:r>
            <a:r>
              <a:rPr lang="pt-B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84248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EA63B6B-2F12-004F-5D05-BDCAD0760647}"/>
              </a:ext>
            </a:extLst>
          </p:cNvPr>
          <p:cNvSpPr txBox="1"/>
          <p:nvPr/>
        </p:nvSpPr>
        <p:spPr>
          <a:xfrm>
            <a:off x="0" y="1"/>
            <a:ext cx="53308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Imagina </a:t>
            </a:r>
            <a:r>
              <a:rPr lang="pt-BR" dirty="0" err="1"/>
              <a:t>so</a:t>
            </a:r>
            <a:r>
              <a:rPr lang="pt-BR" dirty="0"/>
              <a:t>: </a:t>
            </a:r>
            <a:r>
              <a:rPr lang="pt-BR" dirty="0" err="1"/>
              <a:t>voce</a:t>
            </a:r>
            <a:r>
              <a:rPr lang="pt-BR" dirty="0"/>
              <a:t> </a:t>
            </a:r>
            <a:r>
              <a:rPr lang="pt-BR" dirty="0" err="1"/>
              <a:t>ta</a:t>
            </a:r>
            <a:r>
              <a:rPr lang="pt-BR" dirty="0"/>
              <a:t> </a:t>
            </a:r>
            <a:r>
              <a:rPr lang="pt-BR" dirty="0" err="1"/>
              <a:t>la</a:t>
            </a:r>
            <a:r>
              <a:rPr lang="pt-BR" dirty="0"/>
              <a:t>, de boa, sacando dinheiro no caixa </a:t>
            </a:r>
            <a:r>
              <a:rPr lang="pt-BR" dirty="0" err="1"/>
              <a:t>eletronico</a:t>
            </a:r>
            <a:r>
              <a:rPr lang="pt-BR" dirty="0"/>
              <a:t>, fazendo um Pix pro seu amigo, pagando o boleto da internet. E adivinha quem </a:t>
            </a:r>
            <a:r>
              <a:rPr lang="pt-BR" dirty="0" err="1"/>
              <a:t>ta</a:t>
            </a:r>
            <a:r>
              <a:rPr lang="pt-BR" dirty="0"/>
              <a:t> por </a:t>
            </a:r>
            <a:r>
              <a:rPr lang="pt-BR" dirty="0" err="1"/>
              <a:t>tras</a:t>
            </a:r>
            <a:r>
              <a:rPr lang="pt-BR" dirty="0"/>
              <a:t> de tudo isso? Uma linguagem de mil novecentos e cinquenta e nove! Isso mesmo, galera. Mais velha que a internet, que o celular, que o </a:t>
            </a:r>
            <a:r>
              <a:rPr lang="pt-BR" dirty="0" err="1"/>
              <a:t>proprio</a:t>
            </a:r>
            <a:r>
              <a:rPr lang="pt-BR" dirty="0"/>
              <a:t> Windows.</a:t>
            </a:r>
          </a:p>
        </p:txBody>
      </p:sp>
    </p:spTree>
    <p:extLst>
      <p:ext uri="{BB962C8B-B14F-4D97-AF65-F5344CB8AC3E}">
        <p14:creationId xmlns:p14="http://schemas.microsoft.com/office/powerpoint/2010/main" val="3188245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316DB11-DCD6-61B4-EE04-E5A9CE3F221C}"/>
              </a:ext>
            </a:extLst>
          </p:cNvPr>
          <p:cNvSpPr txBox="1"/>
          <p:nvPr/>
        </p:nvSpPr>
        <p:spPr>
          <a:xfrm>
            <a:off x="0" y="126530"/>
            <a:ext cx="5330825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Agora que </a:t>
            </a:r>
            <a:r>
              <a:rPr lang="pt-BR" sz="1400" dirty="0" err="1"/>
              <a:t>voce</a:t>
            </a:r>
            <a:r>
              <a:rPr lang="pt-BR" sz="1400" dirty="0"/>
              <a:t> </a:t>
            </a:r>
            <a:r>
              <a:rPr lang="pt-BR" sz="1400" dirty="0" err="1"/>
              <a:t>ja</a:t>
            </a:r>
            <a:r>
              <a:rPr lang="pt-BR" sz="1400" dirty="0"/>
              <a:t> sabe o que COBOL faz, bora entender como um programa COBOL funciona por dentro. E a melhor analogia que eu tenho pra </a:t>
            </a:r>
            <a:r>
              <a:rPr lang="pt-BR" sz="1400" dirty="0" err="1"/>
              <a:t>voce</a:t>
            </a:r>
            <a:r>
              <a:rPr lang="pt-BR" sz="1400" dirty="0"/>
              <a:t> e: pensa numa </a:t>
            </a:r>
            <a:r>
              <a:rPr lang="pt-BR" sz="1400" dirty="0" err="1"/>
              <a:t>piramide</a:t>
            </a:r>
            <a:r>
              <a:rPr lang="pt-BR" sz="1400" dirty="0"/>
              <a:t> com quatro </a:t>
            </a:r>
            <a:r>
              <a:rPr lang="pt-BR" sz="1400" dirty="0" err="1"/>
              <a:t>camaras</a:t>
            </a:r>
            <a:r>
              <a:rPr lang="pt-BR" sz="1400" dirty="0"/>
              <a:t> secretas. Cada </a:t>
            </a:r>
            <a:r>
              <a:rPr lang="pt-BR" sz="1400" dirty="0" err="1"/>
              <a:t>camara</a:t>
            </a:r>
            <a:r>
              <a:rPr lang="pt-BR" sz="1400" dirty="0"/>
              <a:t> tem uma </a:t>
            </a:r>
            <a:r>
              <a:rPr lang="pt-BR" sz="1400" dirty="0" err="1"/>
              <a:t>funcao</a:t>
            </a:r>
            <a:r>
              <a:rPr lang="pt-BR" sz="1400" dirty="0"/>
              <a:t> especifica.</a:t>
            </a:r>
          </a:p>
          <a:p>
            <a:r>
              <a:rPr lang="pt-BR" sz="1400" dirty="0"/>
              <a:t>A primeira </a:t>
            </a:r>
            <a:r>
              <a:rPr lang="pt-BR" sz="1400" dirty="0" err="1"/>
              <a:t>camara</a:t>
            </a:r>
            <a:r>
              <a:rPr lang="pt-BR" sz="1400" dirty="0"/>
              <a:t> e a </a:t>
            </a:r>
            <a:r>
              <a:rPr lang="pt-BR" sz="1400" dirty="0" err="1"/>
              <a:t>Identification</a:t>
            </a:r>
            <a:r>
              <a:rPr lang="pt-BR" sz="1400" dirty="0"/>
              <a:t> Division. Essa e tipo o RG do programa. E aqui que </a:t>
            </a:r>
            <a:r>
              <a:rPr lang="pt-BR" sz="1400" dirty="0" err="1"/>
              <a:t>voce</a:t>
            </a:r>
            <a:r>
              <a:rPr lang="pt-BR" sz="1400" dirty="0"/>
              <a:t> diz: opa, meu nome e tal, fui criado por fulano, na data tal. Basicamente a carteira de identidade do seu </a:t>
            </a:r>
            <a:r>
              <a:rPr lang="pt-BR" sz="1400" dirty="0" err="1"/>
              <a:t>codigo</a:t>
            </a:r>
            <a:r>
              <a:rPr lang="pt-BR" sz="1400" dirty="0"/>
              <a:t>.</a:t>
            </a:r>
          </a:p>
          <a:p>
            <a:r>
              <a:rPr lang="pt-BR" sz="1400" dirty="0"/>
              <a:t>A segunda e a </a:t>
            </a:r>
            <a:r>
              <a:rPr lang="pt-BR" sz="1400" dirty="0" err="1"/>
              <a:t>Environment</a:t>
            </a:r>
            <a:r>
              <a:rPr lang="pt-BR" sz="1400" dirty="0"/>
              <a:t> Division. Essa e o mapa do terreno. Aqui </a:t>
            </a:r>
            <a:r>
              <a:rPr lang="pt-BR" sz="1400" dirty="0" err="1"/>
              <a:t>voce</a:t>
            </a:r>
            <a:r>
              <a:rPr lang="pt-BR" sz="1400" dirty="0"/>
              <a:t> configura em que ambiente o programa vai rodar, quais arquivos ele vai usar, qual hardware </a:t>
            </a:r>
            <a:r>
              <a:rPr lang="pt-BR" sz="1400" dirty="0" err="1"/>
              <a:t>ta</a:t>
            </a:r>
            <a:r>
              <a:rPr lang="pt-BR" sz="1400" dirty="0"/>
              <a:t> envolvido. E tipo falar: olha, eu vou trabalhar com esse arquivo aqui, que </a:t>
            </a:r>
            <a:r>
              <a:rPr lang="pt-BR" sz="1400" dirty="0" err="1"/>
              <a:t>ta</a:t>
            </a:r>
            <a:r>
              <a:rPr lang="pt-BR" sz="1400" dirty="0"/>
              <a:t> nessa pasta aqui.</a:t>
            </a:r>
          </a:p>
          <a:p>
            <a:r>
              <a:rPr lang="pt-BR" sz="1400" dirty="0"/>
              <a:t>A terceira e a Data Division. Esse e o deposito de artefatos. E onde </a:t>
            </a:r>
            <a:r>
              <a:rPr lang="pt-BR" sz="1400" dirty="0" err="1"/>
              <a:t>voce</a:t>
            </a:r>
            <a:r>
              <a:rPr lang="pt-BR" sz="1400" dirty="0"/>
              <a:t> declara todas as suas </a:t>
            </a:r>
            <a:r>
              <a:rPr lang="pt-BR" sz="1400" dirty="0" err="1"/>
              <a:t>variaveis</a:t>
            </a:r>
            <a:r>
              <a:rPr lang="pt-BR" sz="1400" dirty="0"/>
              <a:t> e estruturas de dados. Tipo: eu tenho um campo chamado nome do </a:t>
            </a:r>
            <a:r>
              <a:rPr lang="pt-BR" sz="1400" dirty="0" err="1"/>
              <a:t>funcionario</a:t>
            </a:r>
            <a:r>
              <a:rPr lang="pt-BR" sz="1400" dirty="0"/>
              <a:t> que guarda trinta caracteres, e outro chamado salario que guarda sete </a:t>
            </a:r>
            <a:r>
              <a:rPr lang="pt-BR" sz="1400" dirty="0" err="1"/>
              <a:t>digitos</a:t>
            </a:r>
            <a:r>
              <a:rPr lang="pt-BR" sz="1400" dirty="0"/>
              <a:t> com duas casas decimais.</a:t>
            </a:r>
          </a:p>
          <a:p>
            <a:r>
              <a:rPr lang="pt-BR" sz="1400" dirty="0"/>
              <a:t>E a quarta, e a mais importante, e a Procedure Division. Essa e o </a:t>
            </a:r>
            <a:r>
              <a:rPr lang="pt-BR" sz="1400" dirty="0" err="1"/>
              <a:t>coracao</a:t>
            </a:r>
            <a:r>
              <a:rPr lang="pt-BR" sz="1400" dirty="0"/>
              <a:t> da parada! E aqui que a magica acontece, onde fica toda a logica do programa. Os </a:t>
            </a:r>
            <a:r>
              <a:rPr lang="pt-BR" sz="1400" dirty="0" err="1"/>
              <a:t>calculos</a:t>
            </a:r>
            <a:r>
              <a:rPr lang="pt-BR" sz="1400" dirty="0"/>
              <a:t>, as </a:t>
            </a:r>
            <a:r>
              <a:rPr lang="pt-BR" sz="1400" dirty="0" err="1"/>
              <a:t>decisoes</a:t>
            </a:r>
            <a:r>
              <a:rPr lang="pt-BR" sz="1400" dirty="0"/>
              <a:t>, os loops, tudo. E o legal e que COBOL organiza a logica em </a:t>
            </a:r>
            <a:r>
              <a:rPr lang="pt-BR" sz="1400" dirty="0" err="1"/>
              <a:t>paragrafos</a:t>
            </a:r>
            <a:r>
              <a:rPr lang="pt-BR" sz="1400" dirty="0"/>
              <a:t>, que funcionam quase como </a:t>
            </a:r>
            <a:r>
              <a:rPr lang="pt-BR" sz="1400" dirty="0" err="1"/>
              <a:t>funcoes</a:t>
            </a:r>
            <a:r>
              <a:rPr lang="pt-BR" sz="1400" dirty="0"/>
              <a:t>. </a:t>
            </a:r>
            <a:r>
              <a:rPr lang="pt-BR" sz="1400" dirty="0" err="1"/>
              <a:t>Voce</a:t>
            </a:r>
            <a:r>
              <a:rPr lang="pt-BR" sz="1400" dirty="0"/>
              <a:t> chama um paragrafo com PERFORM e ele executa. Simples assim.</a:t>
            </a:r>
          </a:p>
        </p:txBody>
      </p:sp>
    </p:spTree>
    <p:extLst>
      <p:ext uri="{BB962C8B-B14F-4D97-AF65-F5344CB8AC3E}">
        <p14:creationId xmlns:p14="http://schemas.microsoft.com/office/powerpoint/2010/main" val="772522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E714B47-F47B-97B6-1BD6-C13775211DDC}"/>
              </a:ext>
            </a:extLst>
          </p:cNvPr>
          <p:cNvSpPr txBox="1"/>
          <p:nvPr/>
        </p:nvSpPr>
        <p:spPr>
          <a:xfrm>
            <a:off x="-1" y="0"/>
            <a:ext cx="533082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Agora vem a parte que eu mais gosto: hora das curiosidades! Prepara que vem bomba.</a:t>
            </a:r>
          </a:p>
          <a:p>
            <a:r>
              <a:rPr lang="pt-BR" sz="1400" dirty="0"/>
              <a:t>Primeira: COBOL e de 1959. Pra </a:t>
            </a:r>
            <a:r>
              <a:rPr lang="pt-BR" sz="1400" dirty="0" err="1"/>
              <a:t>voce</a:t>
            </a:r>
            <a:r>
              <a:rPr lang="pt-BR" sz="1400" dirty="0"/>
              <a:t> ter uma ideia, o homem </a:t>
            </a:r>
            <a:r>
              <a:rPr lang="pt-BR" sz="1400" dirty="0" err="1"/>
              <a:t>so</a:t>
            </a:r>
            <a:r>
              <a:rPr lang="pt-BR" sz="1400" dirty="0"/>
              <a:t> foi a Lua em 1969. Ou seja, COBOL e mais velha que a ida a Lua! Quando Neil Armstrong deu aquele pequeno passo pra humanidade, COBOL </a:t>
            </a:r>
            <a:r>
              <a:rPr lang="pt-BR" sz="1400" dirty="0" err="1"/>
              <a:t>ja</a:t>
            </a:r>
            <a:r>
              <a:rPr lang="pt-BR" sz="1400" dirty="0"/>
              <a:t> </a:t>
            </a:r>
            <a:r>
              <a:rPr lang="pt-BR" sz="1400" dirty="0" err="1"/>
              <a:t>tava</a:t>
            </a:r>
            <a:r>
              <a:rPr lang="pt-BR" sz="1400" dirty="0"/>
              <a:t> rodando fazia dez anos. Acredita nisso?</a:t>
            </a:r>
          </a:p>
          <a:p>
            <a:r>
              <a:rPr lang="pt-BR" sz="1400" dirty="0"/>
              <a:t>Segunda: sabe quem liderou a </a:t>
            </a:r>
            <a:r>
              <a:rPr lang="pt-BR" sz="1400" dirty="0" err="1"/>
              <a:t>criacao</a:t>
            </a:r>
            <a:r>
              <a:rPr lang="pt-BR" sz="1400" dirty="0"/>
              <a:t> do COBOL? Uma mulher </a:t>
            </a:r>
            <a:r>
              <a:rPr lang="pt-BR" sz="1400" dirty="0" err="1"/>
              <a:t>incrivel</a:t>
            </a:r>
            <a:r>
              <a:rPr lang="pt-BR" sz="1400" dirty="0"/>
              <a:t> chamada Grace Hopper. Almirante da Marinha americana, </a:t>
            </a:r>
            <a:r>
              <a:rPr lang="pt-BR" sz="1400" dirty="0" err="1"/>
              <a:t>matematica</a:t>
            </a:r>
            <a:r>
              <a:rPr lang="pt-BR" sz="1400" dirty="0"/>
              <a:t>, e uma das pioneiras da </a:t>
            </a:r>
            <a:r>
              <a:rPr lang="pt-BR" sz="1400" dirty="0" err="1"/>
              <a:t>computacao</a:t>
            </a:r>
            <a:r>
              <a:rPr lang="pt-BR" sz="1400" dirty="0"/>
              <a:t>. Foi ela que popularizou a ideia de que linguagens de </a:t>
            </a:r>
            <a:r>
              <a:rPr lang="pt-BR" sz="1400" dirty="0" err="1"/>
              <a:t>programacao</a:t>
            </a:r>
            <a:r>
              <a:rPr lang="pt-BR" sz="1400" dirty="0"/>
              <a:t> podiam parecer com </a:t>
            </a:r>
            <a:r>
              <a:rPr lang="pt-BR" sz="1400" dirty="0" err="1"/>
              <a:t>ingles</a:t>
            </a:r>
            <a:r>
              <a:rPr lang="pt-BR" sz="1400" dirty="0"/>
              <a:t>, em vez de ser </a:t>
            </a:r>
            <a:r>
              <a:rPr lang="pt-BR" sz="1400" dirty="0" err="1"/>
              <a:t>so</a:t>
            </a:r>
            <a:r>
              <a:rPr lang="pt-BR" sz="1400" dirty="0"/>
              <a:t> </a:t>
            </a:r>
            <a:r>
              <a:rPr lang="pt-BR" sz="1400" dirty="0" err="1"/>
              <a:t>numeros</a:t>
            </a:r>
            <a:r>
              <a:rPr lang="pt-BR" sz="1400" dirty="0"/>
              <a:t> e </a:t>
            </a:r>
            <a:r>
              <a:rPr lang="pt-BR" sz="1400" dirty="0" err="1"/>
              <a:t>simbolos</a:t>
            </a:r>
            <a:r>
              <a:rPr lang="pt-BR" sz="1400" dirty="0"/>
              <a:t>. Lenda demais!</a:t>
            </a:r>
          </a:p>
          <a:p>
            <a:r>
              <a:rPr lang="pt-BR" sz="1400" dirty="0"/>
              <a:t>Terceira: existem duzentos e vinte </a:t>
            </a:r>
            <a:r>
              <a:rPr lang="pt-BR" sz="1400" dirty="0" err="1"/>
              <a:t>bilhoes</a:t>
            </a:r>
            <a:r>
              <a:rPr lang="pt-BR" sz="1400" dirty="0"/>
              <a:t> de linhas de COBOL ativas no mundo. Pra comparar, isso e mais do que todas as linhas de Python e Java somadas. E uma quantidade absurda de </a:t>
            </a:r>
            <a:r>
              <a:rPr lang="pt-BR" sz="1400" dirty="0" err="1"/>
              <a:t>codigo</a:t>
            </a:r>
            <a:r>
              <a:rPr lang="pt-BR" sz="1400" dirty="0"/>
              <a:t> que </a:t>
            </a:r>
            <a:r>
              <a:rPr lang="pt-BR" sz="1400" dirty="0" err="1"/>
              <a:t>ta</a:t>
            </a:r>
            <a:r>
              <a:rPr lang="pt-BR" sz="1400" dirty="0"/>
              <a:t> </a:t>
            </a:r>
            <a:r>
              <a:rPr lang="pt-BR" sz="1400" dirty="0" err="1"/>
              <a:t>la</a:t>
            </a:r>
            <a:r>
              <a:rPr lang="pt-BR" sz="1400" dirty="0"/>
              <a:t>, funcionando, todo dia, nos bastidores do sistema financeiro.</a:t>
            </a:r>
          </a:p>
          <a:p>
            <a:r>
              <a:rPr lang="pt-BR" sz="1400" dirty="0"/>
              <a:t>Quarta: COBOL foi projetado pra parecer </a:t>
            </a:r>
            <a:r>
              <a:rPr lang="pt-BR" sz="1400" dirty="0" err="1"/>
              <a:t>ingles</a:t>
            </a:r>
            <a:r>
              <a:rPr lang="pt-BR" sz="1400" dirty="0"/>
              <a:t>. Tipo, </a:t>
            </a:r>
            <a:r>
              <a:rPr lang="pt-BR" sz="1400" dirty="0" err="1"/>
              <a:t>voce</a:t>
            </a:r>
            <a:r>
              <a:rPr lang="pt-BR" sz="1400" dirty="0"/>
              <a:t> </a:t>
            </a:r>
            <a:r>
              <a:rPr lang="pt-BR" sz="1400" dirty="0" err="1"/>
              <a:t>le</a:t>
            </a:r>
            <a:r>
              <a:rPr lang="pt-BR" sz="1400" dirty="0"/>
              <a:t> o </a:t>
            </a:r>
            <a:r>
              <a:rPr lang="pt-BR" sz="1400" dirty="0" err="1"/>
              <a:t>codigo</a:t>
            </a:r>
            <a:r>
              <a:rPr lang="pt-BR" sz="1400" dirty="0"/>
              <a:t> e quase da pra entender sem saber programar. MOVE nome TO campo. DISPLAY resultado. IF salario GREATER THAN mil. E quase uma </a:t>
            </a:r>
            <a:r>
              <a:rPr lang="pt-BR" sz="1400" dirty="0" err="1"/>
              <a:t>redacao</a:t>
            </a:r>
            <a:r>
              <a:rPr lang="pt-BR" sz="1400" dirty="0"/>
              <a:t>!</a:t>
            </a:r>
          </a:p>
          <a:p>
            <a:r>
              <a:rPr lang="pt-BR" sz="1400" dirty="0"/>
              <a:t>Quinta: COBOL processa </a:t>
            </a:r>
            <a:r>
              <a:rPr lang="pt-BR" sz="1400" dirty="0" err="1"/>
              <a:t>tres</a:t>
            </a:r>
            <a:r>
              <a:rPr lang="pt-BR" sz="1400" dirty="0"/>
              <a:t> </a:t>
            </a:r>
            <a:r>
              <a:rPr lang="pt-BR" sz="1400" dirty="0" err="1"/>
              <a:t>trilhoes</a:t>
            </a:r>
            <a:r>
              <a:rPr lang="pt-BR" sz="1400" dirty="0"/>
              <a:t> de </a:t>
            </a:r>
            <a:r>
              <a:rPr lang="pt-BR" sz="1400" dirty="0" err="1"/>
              <a:t>transacoes</a:t>
            </a:r>
            <a:r>
              <a:rPr lang="pt-BR" sz="1400" dirty="0"/>
              <a:t> por dia. </a:t>
            </a:r>
            <a:r>
              <a:rPr lang="pt-BR" sz="1400" dirty="0" err="1"/>
              <a:t>Tres</a:t>
            </a:r>
            <a:r>
              <a:rPr lang="pt-BR" sz="1400" dirty="0"/>
              <a:t> </a:t>
            </a:r>
            <a:r>
              <a:rPr lang="pt-BR" sz="1400" dirty="0" err="1"/>
              <a:t>trilhoes</a:t>
            </a:r>
            <a:r>
              <a:rPr lang="pt-BR" sz="1400" dirty="0"/>
              <a:t>! Os bancos literalmente </a:t>
            </a:r>
            <a:r>
              <a:rPr lang="pt-BR" sz="1400" dirty="0" err="1"/>
              <a:t>nao</a:t>
            </a:r>
            <a:r>
              <a:rPr lang="pt-BR" sz="1400" dirty="0"/>
              <a:t> vivem sem essa linguagem. Cada vez que </a:t>
            </a:r>
            <a:r>
              <a:rPr lang="pt-BR" sz="1400" dirty="0" err="1"/>
              <a:t>voce</a:t>
            </a:r>
            <a:r>
              <a:rPr lang="pt-BR" sz="1400" dirty="0"/>
              <a:t> passa o </a:t>
            </a:r>
            <a:r>
              <a:rPr lang="pt-BR" sz="1400" dirty="0" err="1"/>
              <a:t>cartao</a:t>
            </a:r>
            <a:r>
              <a:rPr lang="pt-BR" sz="1400" dirty="0"/>
              <a:t>, tem COBOL por </a:t>
            </a:r>
            <a:r>
              <a:rPr lang="pt-BR" sz="1400" dirty="0" err="1"/>
              <a:t>tras</a:t>
            </a:r>
            <a:r>
              <a:rPr lang="pt-BR" sz="1400" dirty="0"/>
              <a:t>.</a:t>
            </a:r>
          </a:p>
          <a:p>
            <a:r>
              <a:rPr lang="pt-BR" sz="1400" dirty="0"/>
              <a:t>E a sexta, que talvez seja a mais interessante pra </a:t>
            </a:r>
            <a:r>
              <a:rPr lang="pt-BR" sz="1400" dirty="0" err="1"/>
              <a:t>voce</a:t>
            </a:r>
            <a:r>
              <a:rPr lang="pt-BR" sz="1400" dirty="0"/>
              <a:t> que </a:t>
            </a:r>
            <a:r>
              <a:rPr lang="pt-BR" sz="1400" dirty="0" err="1"/>
              <a:t>ta</a:t>
            </a:r>
            <a:r>
              <a:rPr lang="pt-BR" sz="1400" dirty="0"/>
              <a:t> ouvindo: </a:t>
            </a:r>
            <a:r>
              <a:rPr lang="pt-BR" sz="1400" dirty="0" err="1"/>
              <a:t>pouquissimos</a:t>
            </a:r>
            <a:r>
              <a:rPr lang="pt-BR" sz="1400" dirty="0"/>
              <a:t> desenvolvedores sabem COBOL hoje. A maioria dos programadores COBOL </a:t>
            </a:r>
            <a:r>
              <a:rPr lang="pt-BR" sz="1400" dirty="0" err="1"/>
              <a:t>ta</a:t>
            </a:r>
            <a:r>
              <a:rPr lang="pt-BR" sz="1400" dirty="0"/>
              <a:t> se aposentando, e as empresas </a:t>
            </a:r>
            <a:r>
              <a:rPr lang="pt-BR" sz="1400" dirty="0" err="1"/>
              <a:t>tao</a:t>
            </a:r>
            <a:r>
              <a:rPr lang="pt-BR" sz="1400" dirty="0"/>
              <a:t> desesperadas atras de gente nova que aprenda. Resultado? </a:t>
            </a:r>
            <a:r>
              <a:rPr lang="pt-BR" sz="1400" dirty="0" err="1"/>
              <a:t>Salarios</a:t>
            </a:r>
            <a:r>
              <a:rPr lang="pt-BR" sz="1400" dirty="0"/>
              <a:t> </a:t>
            </a:r>
            <a:r>
              <a:rPr lang="pt-BR" sz="1400" dirty="0" err="1"/>
              <a:t>altissimos</a:t>
            </a:r>
            <a:r>
              <a:rPr lang="pt-BR" sz="1400" dirty="0"/>
              <a:t> e muita oportunidade no mercado. Fica a dica!</a:t>
            </a:r>
          </a:p>
        </p:txBody>
      </p:sp>
    </p:spTree>
    <p:extLst>
      <p:ext uri="{BB962C8B-B14F-4D97-AF65-F5344CB8AC3E}">
        <p14:creationId xmlns:p14="http://schemas.microsoft.com/office/powerpoint/2010/main" val="2671376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97F47D4-3652-9010-7D8B-1B6C872B4C9E}"/>
              </a:ext>
            </a:extLst>
          </p:cNvPr>
          <p:cNvSpPr txBox="1"/>
          <p:nvPr/>
        </p:nvSpPr>
        <p:spPr>
          <a:xfrm>
            <a:off x="0" y="843792"/>
            <a:ext cx="53308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 ai, galera, esse foi o </a:t>
            </a:r>
            <a:r>
              <a:rPr lang="pt-BR" dirty="0" err="1"/>
              <a:t>Cobolando</a:t>
            </a:r>
            <a:r>
              <a:rPr lang="pt-BR" dirty="0"/>
              <a:t> de hoje! Espero que </a:t>
            </a:r>
            <a:r>
              <a:rPr lang="pt-BR" dirty="0" err="1"/>
              <a:t>voce</a:t>
            </a:r>
            <a:r>
              <a:rPr lang="pt-BR" dirty="0"/>
              <a:t> tenha curtido essa viagem no tempo e entendido por que COBOL </a:t>
            </a:r>
            <a:r>
              <a:rPr lang="pt-BR" dirty="0" err="1"/>
              <a:t>nao</a:t>
            </a:r>
            <a:r>
              <a:rPr lang="pt-BR" dirty="0"/>
              <a:t> e uma </a:t>
            </a:r>
            <a:r>
              <a:rPr lang="pt-BR" dirty="0" err="1"/>
              <a:t>reliquia</a:t>
            </a:r>
            <a:r>
              <a:rPr lang="pt-BR" dirty="0"/>
              <a:t> do passado. Muito pelo contrario: e o alicerce sobre o qual o mundo financeiro foi </a:t>
            </a:r>
            <a:r>
              <a:rPr lang="pt-BR" dirty="0" err="1"/>
              <a:t>construido</a:t>
            </a:r>
            <a:r>
              <a:rPr lang="pt-BR" dirty="0"/>
              <a:t>, e continua de </a:t>
            </a:r>
            <a:r>
              <a:rPr lang="pt-BR" dirty="0" err="1"/>
              <a:t>pe</a:t>
            </a:r>
            <a:r>
              <a:rPr lang="pt-BR" dirty="0"/>
              <a:t>, firme e forte.</a:t>
            </a:r>
          </a:p>
          <a:p>
            <a:r>
              <a:rPr lang="pt-BR" dirty="0"/>
              <a:t>Se </a:t>
            </a:r>
            <a:r>
              <a:rPr lang="pt-BR" dirty="0" err="1"/>
              <a:t>voce</a:t>
            </a:r>
            <a:r>
              <a:rPr lang="pt-BR" dirty="0"/>
              <a:t> curtiu esse episodio, deixa o like, compartilha com aquele amigo programador que acha que COBOL morreu, e se inscreve no canal pra </a:t>
            </a:r>
            <a:r>
              <a:rPr lang="pt-BR" dirty="0" err="1"/>
              <a:t>nao</a:t>
            </a:r>
            <a:r>
              <a:rPr lang="pt-BR" dirty="0"/>
              <a:t> perder os </a:t>
            </a:r>
            <a:r>
              <a:rPr lang="pt-BR" dirty="0" err="1"/>
              <a:t>proximos</a:t>
            </a:r>
            <a:r>
              <a:rPr lang="pt-BR" dirty="0"/>
              <a:t> </a:t>
            </a:r>
            <a:r>
              <a:rPr lang="pt-BR" dirty="0" err="1"/>
              <a:t>episodios</a:t>
            </a:r>
            <a:r>
              <a:rPr lang="pt-BR" dirty="0"/>
              <a:t>. A </a:t>
            </a:r>
            <a:r>
              <a:rPr lang="pt-BR" dirty="0" err="1"/>
              <a:t>escavacao</a:t>
            </a:r>
            <a:r>
              <a:rPr lang="pt-BR" dirty="0"/>
              <a:t> continua!</a:t>
            </a:r>
          </a:p>
          <a:p>
            <a:r>
              <a:rPr lang="pt-BR" dirty="0"/>
              <a:t>No </a:t>
            </a:r>
            <a:r>
              <a:rPr lang="pt-BR" dirty="0" err="1"/>
              <a:t>proximo</a:t>
            </a:r>
            <a:r>
              <a:rPr lang="pt-BR" dirty="0"/>
              <a:t> episodio a gente vai se aprofundar ainda mais, </a:t>
            </a:r>
            <a:r>
              <a:rPr lang="pt-BR" dirty="0" err="1"/>
              <a:t>entao</a:t>
            </a:r>
            <a:r>
              <a:rPr lang="pt-BR" dirty="0"/>
              <a:t> fica ligado. Eu sou o seu host, e esse foi o </a:t>
            </a:r>
            <a:r>
              <a:rPr lang="pt-BR" dirty="0" err="1"/>
              <a:t>Cobolando</a:t>
            </a:r>
            <a:r>
              <a:rPr lang="pt-BR" dirty="0"/>
              <a:t>. Valeu, galera! Ate a </a:t>
            </a:r>
            <a:r>
              <a:rPr lang="pt-BR" dirty="0" err="1"/>
              <a:t>proxima</a:t>
            </a:r>
            <a:r>
              <a:rPr lang="pt-B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0783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2450</Words>
  <Application>Microsoft Office PowerPoint</Application>
  <PresentationFormat>Personalizar</PresentationFormat>
  <Paragraphs>119</Paragraphs>
  <Slides>10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Caixa Economica Federal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Thulio Phelipe Andrade de Souza</dc:creator>
  <cp:lastModifiedBy>Thulio Phelipe Andrade de Souza</cp:lastModifiedBy>
  <cp:revision>1</cp:revision>
  <dcterms:created xsi:type="dcterms:W3CDTF">2026-05-20T16:13:52Z</dcterms:created>
  <dcterms:modified xsi:type="dcterms:W3CDTF">2026-05-21T18:37:34Z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333b259-87ee-4762-9a8c-7b0d155dd87f_Enabled">
    <vt:lpwstr>true</vt:lpwstr>
  </property>
  <property fmtid="{D5CDD505-2E9C-101B-9397-08002B2CF9AE}" pid="3" name="MSIP_Label_9333b259-87ee-4762-9a8c-7b0d155dd87f_SetDate">
    <vt:lpwstr>2026-05-20T16:26:00Z</vt:lpwstr>
  </property>
  <property fmtid="{D5CDD505-2E9C-101B-9397-08002B2CF9AE}" pid="4" name="MSIP_Label_9333b259-87ee-4762-9a8c-7b0d155dd87f_Method">
    <vt:lpwstr>Privileged</vt:lpwstr>
  </property>
  <property fmtid="{D5CDD505-2E9C-101B-9397-08002B2CF9AE}" pid="5" name="MSIP_Label_9333b259-87ee-4762-9a8c-7b0d155dd87f_Name">
    <vt:lpwstr>_PESSOAL</vt:lpwstr>
  </property>
  <property fmtid="{D5CDD505-2E9C-101B-9397-08002B2CF9AE}" pid="6" name="MSIP_Label_9333b259-87ee-4762-9a8c-7b0d155dd87f_SiteId">
    <vt:lpwstr>ab9bba98-684a-43fb-add8-9c2bebede229</vt:lpwstr>
  </property>
  <property fmtid="{D5CDD505-2E9C-101B-9397-08002B2CF9AE}" pid="7" name="MSIP_Label_9333b259-87ee-4762-9a8c-7b0d155dd87f_ActionId">
    <vt:lpwstr>4f24daa3-cd15-4fe2-a603-bc41bc8690f5</vt:lpwstr>
  </property>
  <property fmtid="{D5CDD505-2E9C-101B-9397-08002B2CF9AE}" pid="8" name="MSIP_Label_9333b259-87ee-4762-9a8c-7b0d155dd87f_ContentBits">
    <vt:lpwstr>1</vt:lpwstr>
  </property>
  <property fmtid="{D5CDD505-2E9C-101B-9397-08002B2CF9AE}" pid="9" name="MSIP_Label_9333b259-87ee-4762-9a8c-7b0d155dd87f_Tag">
    <vt:lpwstr>10, 0, 1, 1</vt:lpwstr>
  </property>
</Properties>
</file>